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83" r:id="rId2"/>
    <p:sldId id="257" r:id="rId3"/>
    <p:sldId id="282" r:id="rId4"/>
    <p:sldId id="284" r:id="rId5"/>
    <p:sldId id="285" r:id="rId6"/>
    <p:sldId id="281" r:id="rId7"/>
    <p:sldId id="279" r:id="rId8"/>
    <p:sldId id="262" r:id="rId9"/>
    <p:sldId id="289" r:id="rId10"/>
    <p:sldId id="264" r:id="rId11"/>
    <p:sldId id="278" r:id="rId12"/>
    <p:sldId id="286" r:id="rId13"/>
    <p:sldId id="277" r:id="rId14"/>
    <p:sldId id="280" r:id="rId15"/>
    <p:sldId id="276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250" autoAdjust="0"/>
    <p:restoredTop sz="94686"/>
  </p:normalViewPr>
  <p:slideViewPr>
    <p:cSldViewPr snapToGrid="0">
      <p:cViewPr varScale="1">
        <p:scale>
          <a:sx n="78" d="100"/>
          <a:sy n="78" d="100"/>
        </p:scale>
        <p:origin x="-366" y="-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xmlns="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xmlns="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xmlns="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xmlns="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xmlns="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xmlns="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xmlns="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xmlns="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xmlns="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xmlns="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xmlns="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xmlns="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xmlns="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xmlns="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xmlns="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xmlns="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xmlns="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xmlns="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682736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xmlns="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xmlns="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xmlns="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65175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aveen-AR25/IBM-AI-Internship-project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r>
              <a:rPr lang="en-US" b="1" dirty="0"/>
              <a:t/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</a:t>
            </a:r>
            <a:r>
              <a:rPr lang="en-US" b="1" i="1" dirty="0" smtClean="0"/>
              <a:t>with </a:t>
            </a:r>
            <a:r>
              <a:rPr lang="en-US" b="1" i="1" dirty="0"/>
              <a:t>IBM Granite and </a:t>
            </a:r>
            <a:r>
              <a:rPr lang="en-US" b="1" i="1" dirty="0" err="1" smtClean="0"/>
              <a:t>LangFlow</a:t>
            </a:r>
            <a:r>
              <a:rPr lang="en-US" b="1" i="1" dirty="0" smtClean="0"/>
              <a:t> and Machine Learning with IBM WatsonX.ai studio”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xmlns="" val="2897107072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dirty="0" smtClean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dirty="0" smtClean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 smtClean="0"/>
                        <a:t>         </a:t>
                      </a:r>
                      <a:r>
                        <a:rPr lang="en-GB" dirty="0" err="1" smtClean="0"/>
                        <a:t>A.Naveen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dirty="0" smtClean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dirty="0" smtClean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 smtClean="0"/>
                        <a:t> arnaveen2567@gmail.com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dirty="0" smtClean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dirty="0" smtClean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 smtClean="0"/>
                        <a:t>         +91 9080903469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pic>
        <p:nvPicPr>
          <p:cNvPr id="98" name="Google Shape;98;p2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035552" y="3669793"/>
            <a:ext cx="926592" cy="99974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Domain of  Project – </a:t>
            </a:r>
            <a:r>
              <a:rPr lang="en-GB" sz="2000" b="1" dirty="0" smtClean="0"/>
              <a:t>Electrical Engineering: (Machine learning project) </a:t>
            </a:r>
            <a:endParaRPr lang="en-IN" sz="20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Project Title – </a:t>
            </a:r>
            <a:r>
              <a:rPr lang="en-GB" sz="2400" dirty="0" smtClean="0"/>
              <a:t>Power System Fault Detection and Classification </a:t>
            </a:r>
            <a:endParaRPr lang="en-IN" sz="24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xmlns="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6F6745E-14BA-0766-CE1E-32E29663832D}"/>
              </a:ext>
            </a:extLst>
          </p:cNvPr>
          <p:cNvSpPr txBox="1"/>
          <p:nvPr/>
        </p:nvSpPr>
        <p:spPr>
          <a:xfrm>
            <a:off x="576072" y="938785"/>
            <a:ext cx="10607040" cy="558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700" b="1" dirty="0"/>
              <a:t>Problem Statement </a:t>
            </a:r>
            <a:r>
              <a:rPr lang="en-GB" sz="1700" b="1" dirty="0" smtClean="0"/>
              <a:t>No.41 – Power System Fault Detection and Classification </a:t>
            </a:r>
            <a:r>
              <a:rPr lang="en-US" sz="1700" dirty="0"/>
              <a:t> </a:t>
            </a:r>
          </a:p>
          <a:p>
            <a:pPr fontAlgn="base"/>
            <a:endParaRPr lang="en-US" sz="1700" b="1" dirty="0"/>
          </a:p>
          <a:p>
            <a:pPr fontAlgn="base"/>
            <a:r>
              <a:rPr lang="en-GB" sz="1700" b="1" dirty="0" smtClean="0"/>
              <a:t>The Challenge: </a:t>
            </a:r>
            <a:endParaRPr lang="en-GB" sz="1700" b="1" dirty="0" smtClean="0"/>
          </a:p>
          <a:p>
            <a:pPr fontAlgn="base"/>
            <a:r>
              <a:rPr lang="en-GB" sz="1700" b="1" dirty="0" smtClean="0"/>
              <a:t>                           </a:t>
            </a:r>
            <a:r>
              <a:rPr lang="en-GB" sz="1700" dirty="0" smtClean="0"/>
              <a:t>Design </a:t>
            </a:r>
            <a:r>
              <a:rPr lang="en-GB" sz="1700" dirty="0" smtClean="0"/>
              <a:t>a machine learning model to detect and classify different types of faults in a power distribution system. Using electrical measurement data (e.g., voltage and current </a:t>
            </a:r>
            <a:r>
              <a:rPr lang="en-GB" sz="1700" dirty="0" err="1" smtClean="0"/>
              <a:t>phasors</a:t>
            </a:r>
            <a:r>
              <a:rPr lang="en-GB" sz="1700" dirty="0" smtClean="0"/>
              <a:t>), the model should be able to distinguish between normal operating conditions and various fault conditions (such as line-to-ground, line-to-line, or three-phase faults). The </a:t>
            </a:r>
            <a:r>
              <a:rPr lang="en-GB" sz="1700" dirty="0" smtClean="0"/>
              <a:t>objective </a:t>
            </a:r>
            <a:r>
              <a:rPr lang="en-GB" sz="1700" dirty="0" smtClean="0"/>
              <a:t>is to enable rapid and accurate fault identification, which is crucial for maintaining power grid stability and reliability</a:t>
            </a:r>
            <a:r>
              <a:rPr lang="en-GB" sz="1700" dirty="0" smtClean="0"/>
              <a:t>.</a:t>
            </a:r>
          </a:p>
          <a:p>
            <a:pPr fontAlgn="base"/>
            <a:endParaRPr lang="en-US" sz="1700" dirty="0" smtClean="0"/>
          </a:p>
          <a:p>
            <a:pPr fontAlgn="base"/>
            <a:r>
              <a:rPr lang="en-US" sz="1700" b="1" dirty="0" smtClean="0"/>
              <a:t>The </a:t>
            </a:r>
            <a:r>
              <a:rPr lang="en-US" sz="1700" b="1" dirty="0"/>
              <a:t>Objective</a:t>
            </a:r>
            <a:r>
              <a:rPr lang="en-US" sz="1700" dirty="0"/>
              <a:t> </a:t>
            </a:r>
          </a:p>
          <a:p>
            <a:r>
              <a:rPr lang="en-GB" sz="1700" dirty="0" smtClean="0"/>
              <a:t>The primary objective of your project is to </a:t>
            </a:r>
            <a:r>
              <a:rPr lang="en-GB" sz="1700" b="1" dirty="0" smtClean="0"/>
              <a:t>develop a machine learning model capable of accurately predicting and classifying power system faults</a:t>
            </a:r>
            <a:r>
              <a:rPr lang="en-GB" sz="1700" dirty="0" smtClean="0"/>
              <a:t> by analyzing real-time electrical measurements.</a:t>
            </a:r>
          </a:p>
          <a:p>
            <a:r>
              <a:rPr lang="en-GB" sz="1700" dirty="0" smtClean="0"/>
              <a:t>By filtering out non-essential data (like weather conditions or maintenance logs) and focusing specifically on core electrical signals, you are working toward the following goals:</a:t>
            </a:r>
          </a:p>
          <a:p>
            <a:pPr>
              <a:buFont typeface="Wingdings" pitchFamily="2" charset="2"/>
              <a:buChar char="§"/>
            </a:pPr>
            <a:r>
              <a:rPr lang="en-GB" sz="1700" b="1" dirty="0" smtClean="0"/>
              <a:t> Automated </a:t>
            </a:r>
            <a:r>
              <a:rPr lang="en-GB" sz="1700" b="1" dirty="0" smtClean="0"/>
              <a:t>Fault Detection:</a:t>
            </a:r>
            <a:r>
              <a:rPr lang="en-GB" sz="1700" dirty="0" smtClean="0"/>
              <a:t> Creating a system that can instantly identify when a fault has occurred based solely on sensor data.</a:t>
            </a:r>
          </a:p>
          <a:p>
            <a:pPr>
              <a:buFont typeface="Wingdings" pitchFamily="2" charset="2"/>
              <a:buChar char="§"/>
            </a:pPr>
            <a:r>
              <a:rPr lang="en-GB" sz="1700" b="1" dirty="0" smtClean="0"/>
              <a:t> Enhanced </a:t>
            </a:r>
            <a:r>
              <a:rPr lang="en-GB" sz="1700" b="1" dirty="0" smtClean="0"/>
              <a:t>Reliability:</a:t>
            </a:r>
            <a:r>
              <a:rPr lang="en-GB" sz="1700" dirty="0" smtClean="0"/>
              <a:t> Improving the grid's ability to maintain stability by rapidly classifying the </a:t>
            </a:r>
            <a:r>
              <a:rPr lang="en-GB" sz="1700" i="1" dirty="0" smtClean="0"/>
              <a:t>type</a:t>
            </a:r>
            <a:r>
              <a:rPr lang="en-GB" sz="1700" dirty="0" smtClean="0"/>
              <a:t> of fault, which allows for faster, more targeted maintenance.</a:t>
            </a:r>
          </a:p>
          <a:p>
            <a:pPr>
              <a:buFont typeface="Wingdings" pitchFamily="2" charset="2"/>
              <a:buChar char="§"/>
            </a:pPr>
            <a:r>
              <a:rPr lang="en-GB" sz="1700" b="1" dirty="0" smtClean="0"/>
              <a:t> Performance </a:t>
            </a:r>
            <a:r>
              <a:rPr lang="en-GB" sz="1700" b="1" dirty="0" smtClean="0"/>
              <a:t>Optimization:</a:t>
            </a:r>
            <a:r>
              <a:rPr lang="en-GB" sz="1700" dirty="0" smtClean="0"/>
              <a:t> Demonstrating how data pre-processing (selecting relevant input features) directly correlates to higher model precision, helping you move from lower accuracy levels to a more robust, actionable model</a:t>
            </a:r>
            <a:r>
              <a:rPr lang="en-GB" sz="1700" dirty="0" smtClean="0"/>
              <a:t>.</a:t>
            </a:r>
            <a:endParaRPr lang="en-US" sz="17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847FA31-EA47-D27A-9D69-AF50A3080AEC}"/>
              </a:ext>
            </a:extLst>
          </p:cNvPr>
          <p:cNvSpPr txBox="1"/>
          <p:nvPr/>
        </p:nvSpPr>
        <p:spPr>
          <a:xfrm>
            <a:off x="551688" y="338328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Problem Statement -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xmlns="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xmlns="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7CFCB91-EF22-EB8C-5B0D-4D46021F0245}"/>
              </a:ext>
            </a:extLst>
          </p:cNvPr>
          <p:cNvSpPr txBox="1"/>
          <p:nvPr/>
        </p:nvSpPr>
        <p:spPr>
          <a:xfrm>
            <a:off x="667512" y="1165753"/>
            <a:ext cx="106070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pPr fontAlgn="base"/>
            <a:r>
              <a:rPr lang="en-IN" b="1" dirty="0"/>
              <a:t>Tech </a:t>
            </a:r>
            <a:r>
              <a:rPr lang="en-IN" b="1" dirty="0" smtClean="0"/>
              <a:t>Stack available for internship: </a:t>
            </a:r>
            <a:r>
              <a:rPr lang="en-IN" dirty="0"/>
              <a:t>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 err="1"/>
              <a:t>LangFlow</a:t>
            </a:r>
            <a:r>
              <a:rPr lang="en-IN" dirty="0"/>
              <a:t> + IBM watsonx.ai + Granite Models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/>
              <a:t>IBM Cloud Agentic Lab with IBM Granite Models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/>
              <a:t>Replicate with </a:t>
            </a:r>
            <a:r>
              <a:rPr lang="en-IN" dirty="0" err="1"/>
              <a:t>LangChain</a:t>
            </a:r>
            <a:r>
              <a:rPr lang="en-IN" dirty="0"/>
              <a:t> + RAG + IBM Granite Models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/>
          </a:p>
          <a:p>
            <a:pPr fontAlgn="base"/>
            <a:r>
              <a:rPr lang="en-IN" dirty="0"/>
              <a:t>I used </a:t>
            </a:r>
            <a:r>
              <a:rPr lang="en-IN" dirty="0" smtClean="0">
                <a:highlight>
                  <a:srgbClr val="FFFF00"/>
                </a:highlight>
              </a:rPr>
              <a:t>Wastonx.ai studio service + Machine Learning Model in IBM Cloud </a:t>
            </a:r>
            <a:r>
              <a:rPr lang="en-IN" dirty="0" err="1" smtClean="0">
                <a:highlight>
                  <a:srgbClr val="FFFF00"/>
                </a:highlight>
              </a:rPr>
              <a:t>lite</a:t>
            </a:r>
            <a:r>
              <a:rPr lang="en-IN" dirty="0" smtClean="0">
                <a:highlight>
                  <a:srgbClr val="FFFF00"/>
                </a:highlight>
              </a:rPr>
              <a:t>.</a:t>
            </a:r>
            <a:endParaRPr lang="en-IN" dirty="0">
              <a:highlight>
                <a:srgbClr val="FFFF00"/>
              </a:highlight>
            </a:endParaRPr>
          </a:p>
          <a:p>
            <a:pPr fontAlgn="base"/>
            <a:endParaRPr lang="en-IN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/>
          </a:p>
          <a:p>
            <a:pPr fontAlgn="base"/>
            <a:endParaRPr lang="en-IN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BD926A1-0833-2949-651F-2AAB4D91A8C9}"/>
              </a:ext>
            </a:extLst>
          </p:cNvPr>
          <p:cNvSpPr txBox="1"/>
          <p:nvPr/>
        </p:nvSpPr>
        <p:spPr>
          <a:xfrm>
            <a:off x="576072" y="704088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Technology Used 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xmlns="" val="421846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xmlns="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A1BF701-ABCA-4DF0-8330-B6AF71EF8E39}"/>
              </a:ext>
            </a:extLst>
          </p:cNvPr>
          <p:cNvSpPr txBox="1"/>
          <p:nvPr/>
        </p:nvSpPr>
        <p:spPr>
          <a:xfrm>
            <a:off x="576072" y="1027176"/>
            <a:ext cx="1060704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sz="1600" b="1" dirty="0"/>
          </a:p>
          <a:p>
            <a:r>
              <a:rPr lang="en-GB" sz="1700" b="1" dirty="0" smtClean="0"/>
              <a:t>Proposed Solution: Intelligent Fault Classification System</a:t>
            </a:r>
          </a:p>
          <a:p>
            <a:r>
              <a:rPr lang="en-GB" sz="1700" dirty="0" smtClean="0"/>
              <a:t>The project proposes an automated, data-driven approach to power system protection using advanced machine learning, moving away from manual, rule-based threshold detection</a:t>
            </a:r>
            <a:r>
              <a:rPr lang="en-GB" sz="1700" dirty="0" smtClean="0"/>
              <a:t>.</a:t>
            </a:r>
          </a:p>
          <a:p>
            <a:endParaRPr lang="en-GB" sz="1700" dirty="0" smtClean="0"/>
          </a:p>
          <a:p>
            <a:pPr>
              <a:buFont typeface="Wingdings" pitchFamily="2" charset="2"/>
              <a:buChar char="§"/>
            </a:pPr>
            <a:r>
              <a:rPr lang="en-GB" sz="1700" b="1" dirty="0" smtClean="0"/>
              <a:t> Data-Driven </a:t>
            </a:r>
            <a:r>
              <a:rPr lang="en-GB" sz="1700" b="1" dirty="0" smtClean="0"/>
              <a:t>Feature Engineering:</a:t>
            </a:r>
            <a:r>
              <a:rPr lang="en-GB" sz="1700" dirty="0" smtClean="0"/>
              <a:t> Instead of relying on rigid, manually set relay thresholds, the system utilizes </a:t>
            </a:r>
            <a:r>
              <a:rPr lang="en-GB" sz="1700" b="1" dirty="0" smtClean="0"/>
              <a:t>feature extraction</a:t>
            </a:r>
            <a:r>
              <a:rPr lang="en-GB" sz="1700" dirty="0" smtClean="0"/>
              <a:t> from raw electrical signals. By processing time-series voltage and current data, the model identifies non-linear patterns that signify different fault types, even in transient or noisy grid conditions.</a:t>
            </a:r>
          </a:p>
          <a:p>
            <a:pPr>
              <a:buFont typeface="Wingdings" pitchFamily="2" charset="2"/>
              <a:buChar char="§"/>
            </a:pPr>
            <a:r>
              <a:rPr lang="en-GB" sz="1700" b="1" dirty="0" smtClean="0"/>
              <a:t> Automated </a:t>
            </a:r>
            <a:r>
              <a:rPr lang="en-GB" sz="1700" b="1" dirty="0" smtClean="0"/>
              <a:t>Pipeline Selection (</a:t>
            </a:r>
            <a:r>
              <a:rPr lang="en-GB" sz="1700" b="1" dirty="0" err="1" smtClean="0"/>
              <a:t>AutoAI</a:t>
            </a:r>
            <a:r>
              <a:rPr lang="en-GB" sz="1700" b="1" dirty="0" smtClean="0"/>
              <a:t>):</a:t>
            </a:r>
            <a:r>
              <a:rPr lang="en-GB" sz="1700" dirty="0" smtClean="0"/>
              <a:t> We employ </a:t>
            </a:r>
            <a:r>
              <a:rPr lang="en-GB" sz="1700" b="1" dirty="0" smtClean="0"/>
              <a:t>IBM Watson Studio’s </a:t>
            </a:r>
            <a:r>
              <a:rPr lang="en-GB" sz="1700" b="1" dirty="0" err="1" smtClean="0"/>
              <a:t>AutoAI</a:t>
            </a:r>
            <a:r>
              <a:rPr lang="en-GB" sz="1700" dirty="0" smtClean="0"/>
              <a:t> to accelerate model development. This allows for the automated evaluation of multiple machine learning algorithms—such as Gradient Boosting and Random Forest—to identify the highest-performing pipeline for our specific power system dataset.</a:t>
            </a:r>
          </a:p>
          <a:p>
            <a:pPr>
              <a:buFont typeface="Wingdings" pitchFamily="2" charset="2"/>
              <a:buChar char="§"/>
            </a:pPr>
            <a:r>
              <a:rPr lang="en-GB" sz="1700" b="1" dirty="0" smtClean="0"/>
              <a:t> Meta-Learning </a:t>
            </a:r>
            <a:r>
              <a:rPr lang="en-GB" sz="1700" b="1" dirty="0" smtClean="0"/>
              <a:t>Architecture (MAML Integration):</a:t>
            </a:r>
            <a:r>
              <a:rPr lang="en-GB" sz="1700" dirty="0" smtClean="0"/>
              <a:t> To address the challenge of data scarcity regarding specific rare or complex faults, the system incorporates </a:t>
            </a:r>
            <a:r>
              <a:rPr lang="en-GB" sz="1700" b="1" dirty="0" smtClean="0"/>
              <a:t>Model-Agnostic Meta-Learning (MAML)</a:t>
            </a:r>
            <a:r>
              <a:rPr lang="en-GB" sz="1700" dirty="0" smtClean="0"/>
              <a:t> principles. This enables the model to "learn to learn," allowing it to adapt quickly to new, unseen fault scenarios with minimal training data, thereby improving the system's overall robustness.</a:t>
            </a:r>
          </a:p>
          <a:p>
            <a:pPr>
              <a:buFont typeface="Wingdings" pitchFamily="2" charset="2"/>
              <a:buChar char="§"/>
            </a:pPr>
            <a:r>
              <a:rPr lang="en-GB" sz="1700" b="1" dirty="0" smtClean="0"/>
              <a:t> Scalable </a:t>
            </a:r>
            <a:r>
              <a:rPr lang="en-GB" sz="1700" b="1" dirty="0" smtClean="0"/>
              <a:t>Deployment:</a:t>
            </a:r>
            <a:r>
              <a:rPr lang="en-GB" sz="1700" dirty="0" smtClean="0"/>
              <a:t> The final trained model is designed to be </a:t>
            </a:r>
            <a:r>
              <a:rPr lang="en-GB" sz="1700" dirty="0" smtClean="0"/>
              <a:t>deployed, </a:t>
            </a:r>
            <a:r>
              <a:rPr lang="en-GB" sz="1700" dirty="0" smtClean="0"/>
              <a:t>enabling real-time classification of fault data as it is received from sensors in the field. This facilitates immediate decision-making for power distribution </a:t>
            </a:r>
            <a:r>
              <a:rPr lang="en-GB" sz="1700" dirty="0" smtClean="0"/>
              <a:t>management</a:t>
            </a:r>
          </a:p>
          <a:p>
            <a:pPr>
              <a:buFont typeface="Wingdings" pitchFamily="2" charset="2"/>
              <a:buChar char="§"/>
            </a:pPr>
            <a:r>
              <a:rPr lang="en-GB" sz="1700" b="1" dirty="0" smtClean="0"/>
              <a:t>Dataset: </a:t>
            </a:r>
            <a:r>
              <a:rPr lang="en-GB" sz="1700" dirty="0" smtClean="0"/>
              <a:t>used the dataset for the Machine Learning model training from </a:t>
            </a:r>
            <a:r>
              <a:rPr lang="en-GB" sz="1700" dirty="0" err="1" smtClean="0"/>
              <a:t>Kaggle</a:t>
            </a:r>
            <a:endParaRPr lang="en-GB" sz="1700" dirty="0" smtClean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27F30CC-07EF-8FCC-DA00-C9212F5DAECE}"/>
              </a:ext>
            </a:extLst>
          </p:cNvPr>
          <p:cNvSpPr txBox="1"/>
          <p:nvPr/>
        </p:nvSpPr>
        <p:spPr>
          <a:xfrm>
            <a:off x="576072" y="499872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xmlns="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xmlns="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xmlns="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smtClean="0">
                <a:sym typeface="Times New Roman"/>
              </a:rPr>
              <a:t>IBM Cloud </a:t>
            </a:r>
            <a:r>
              <a:rPr lang="en-US" sz="2400" b="1" dirty="0" err="1" smtClean="0">
                <a:sym typeface="Times New Roman"/>
              </a:rPr>
              <a:t>lite</a:t>
            </a:r>
            <a:r>
              <a:rPr lang="en-US" sz="2400" b="1" dirty="0" smtClean="0">
                <a:sym typeface="Times New Roman"/>
              </a:rPr>
              <a:t> components</a:t>
            </a:r>
            <a:r>
              <a:rPr lang="en-US" sz="2400" b="1" dirty="0" smtClean="0"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Used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xmlns="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xmlns="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xmlns="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xmlns="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xmlns="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xmlns="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9510426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r>
              <a:rPr lang="en-US" sz="2000" b="1" dirty="0"/>
              <a:t>1</a:t>
            </a:r>
            <a:r>
              <a:rPr lang="en-US" sz="2000" b="1" dirty="0" smtClean="0"/>
              <a:t>) </a:t>
            </a:r>
            <a:r>
              <a:rPr lang="en-US" sz="2000" b="1" dirty="0"/>
              <a:t>IBM </a:t>
            </a:r>
            <a:r>
              <a:rPr lang="en-US" sz="2000" b="1" dirty="0" err="1"/>
              <a:t>watsonx</a:t>
            </a:r>
            <a:r>
              <a:rPr lang="en-US" sz="2000" b="1" dirty="0"/>
              <a:t> AI </a:t>
            </a:r>
            <a:r>
              <a:rPr lang="en-US" sz="2000" b="1" dirty="0" smtClean="0"/>
              <a:t>studio service</a:t>
            </a:r>
            <a:endParaRPr lang="en-US" sz="2000" dirty="0"/>
          </a:p>
          <a:p>
            <a:endParaRPr lang="en-US" sz="2000" dirty="0"/>
          </a:p>
          <a:p>
            <a:r>
              <a:rPr lang="en-US" sz="2000" b="1" dirty="0"/>
              <a:t>2</a:t>
            </a:r>
            <a:r>
              <a:rPr lang="en-US" sz="2000" b="1" dirty="0" smtClean="0"/>
              <a:t>) </a:t>
            </a:r>
            <a:r>
              <a:rPr lang="en-GB" sz="2000" b="1" dirty="0" err="1" smtClean="0"/>
              <a:t>AutoAI</a:t>
            </a:r>
            <a:r>
              <a:rPr lang="en-GB" sz="2000" b="1" dirty="0" smtClean="0"/>
              <a:t> (Automated Machine Learning)</a:t>
            </a:r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3</a:t>
            </a:r>
            <a:r>
              <a:rPr lang="en-US" sz="2000" b="1" dirty="0" smtClean="0"/>
              <a:t>) </a:t>
            </a:r>
            <a:r>
              <a:rPr lang="en-GB" sz="2000" b="1" dirty="0" smtClean="0"/>
              <a:t>IBM Watson Machine Learning (WML)</a:t>
            </a:r>
            <a:endParaRPr lang="en-US" sz="2000" b="1" dirty="0"/>
          </a:p>
          <a:p>
            <a:endParaRPr lang="en-US" sz="2000" dirty="0"/>
          </a:p>
          <a:p>
            <a:r>
              <a:rPr lang="en-US" sz="2000" b="1" dirty="0"/>
              <a:t>4</a:t>
            </a:r>
            <a:r>
              <a:rPr lang="en-US" sz="2000" b="1" dirty="0" smtClean="0"/>
              <a:t>) Data set – used data set from </a:t>
            </a:r>
            <a:r>
              <a:rPr lang="en-US" sz="2000" b="1" dirty="0" err="1" smtClean="0"/>
              <a:t>kaggle</a:t>
            </a:r>
            <a:r>
              <a:rPr lang="en-US" sz="2000" b="1" dirty="0" smtClean="0"/>
              <a:t>, downloaded in .</a:t>
            </a:r>
            <a:r>
              <a:rPr lang="en-US" sz="2000" b="1" dirty="0" err="1" smtClean="0"/>
              <a:t>csv</a:t>
            </a:r>
            <a:r>
              <a:rPr lang="en-US" sz="2000" b="1" dirty="0" smtClean="0"/>
              <a:t> format</a:t>
            </a:r>
            <a:endParaRPr lang="en-US" sz="2000" dirty="0">
              <a:highlight>
                <a:srgbClr val="FFFF00"/>
              </a:highlight>
            </a:endParaRPr>
          </a:p>
          <a:p>
            <a:pPr marL="342900" indent="-342900"/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xmlns="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xmlns="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xmlns="" id="{B64CF172-D2AF-03D8-F919-AA7827A0D969}"/>
              </a:ext>
            </a:extLst>
          </p:cNvPr>
          <p:cNvSpPr/>
          <p:nvPr/>
        </p:nvSpPr>
        <p:spPr>
          <a:xfrm>
            <a:off x="537590" y="323238"/>
            <a:ext cx="5911978" cy="72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 smtClean="0">
                <a:solidFill>
                  <a:srgbClr val="051D3A"/>
                </a:solidFill>
                <a:latin typeface="+mj-lt"/>
                <a:ea typeface="Times New Roman"/>
                <a:cs typeface="Times New Roman"/>
                <a:sym typeface="Times New Roman"/>
              </a:rPr>
              <a:t>Watsonx.ai studio</a:t>
            </a:r>
            <a:r>
              <a:rPr lang="en-US" sz="2800" b="1" i="0" u="none" strike="noStrike" cap="none" dirty="0" smtClean="0">
                <a:solidFill>
                  <a:srgbClr val="051D3A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dirty="0">
                <a:sym typeface="Times New Roman"/>
              </a:rPr>
              <a:t>workflow -</a:t>
            </a:r>
            <a:endParaRPr sz="2800" b="1" dirty="0">
              <a:sym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2064" y="1377696"/>
            <a:ext cx="702948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 smtClean="0"/>
              <a:t>Project Workflow: From Raw Data to Fault Classification</a:t>
            </a:r>
          </a:p>
          <a:p>
            <a:r>
              <a:rPr lang="en-GB" sz="2000" b="1" dirty="0" smtClean="0"/>
              <a:t>1. Data Ingestion &amp; Pre-processing</a:t>
            </a:r>
          </a:p>
          <a:p>
            <a:r>
              <a:rPr lang="en-GB" sz="2000" b="1" dirty="0" smtClean="0"/>
              <a:t>2. Experimentation (</a:t>
            </a:r>
            <a:r>
              <a:rPr lang="en-GB" sz="2000" b="1" dirty="0" err="1" smtClean="0"/>
              <a:t>AutoAI</a:t>
            </a:r>
            <a:r>
              <a:rPr lang="en-GB" sz="2000" b="1" dirty="0" smtClean="0"/>
              <a:t>)</a:t>
            </a:r>
          </a:p>
          <a:p>
            <a:r>
              <a:rPr lang="en-GB" sz="2000" b="1" dirty="0" smtClean="0"/>
              <a:t>3. Optimization (MAML Integration</a:t>
            </a:r>
            <a:r>
              <a:rPr lang="en-GB" sz="2000" b="1" dirty="0" smtClean="0"/>
              <a:t>)</a:t>
            </a:r>
          </a:p>
          <a:p>
            <a:r>
              <a:rPr lang="en-GB" sz="2000" b="1" dirty="0" smtClean="0"/>
              <a:t>4. Model Deployment</a:t>
            </a: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xmlns="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xmlns="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 smtClean="0">
                <a:solidFill>
                  <a:schemeClr val="dk1"/>
                </a:solidFill>
                <a:latin typeface="Calibri"/>
                <a:sym typeface="Calibri"/>
              </a:rPr>
              <a:t>Project Prediction:</a:t>
            </a:r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0377" y="1024127"/>
            <a:ext cx="9799127" cy="5509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2752" y="396640"/>
            <a:ext cx="10668000" cy="5997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84A7B44-8B20-5A39-ED43-DA98D0FC7976}"/>
              </a:ext>
            </a:extLst>
          </p:cNvPr>
          <p:cNvSpPr txBox="1"/>
          <p:nvPr/>
        </p:nvSpPr>
        <p:spPr>
          <a:xfrm>
            <a:off x="475488" y="173736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</a:t>
            </a:r>
            <a:r>
              <a:rPr lang="en-US" sz="3200" b="1" dirty="0" smtClean="0"/>
              <a:t>Machine Learning</a:t>
            </a:r>
            <a:r>
              <a:rPr lang="en-US" sz="3200" b="1" dirty="0" smtClean="0"/>
              <a:t> </a:t>
            </a:r>
            <a:r>
              <a:rPr lang="en-US" sz="3200" b="1" dirty="0"/>
              <a:t>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22462E8-EB3A-DA7D-44CB-4E757803A755}"/>
              </a:ext>
            </a:extLst>
          </p:cNvPr>
          <p:cNvSpPr txBox="1"/>
          <p:nvPr/>
        </p:nvSpPr>
        <p:spPr>
          <a:xfrm>
            <a:off x="573024" y="733246"/>
            <a:ext cx="740664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1. The Core Role of Machine Learning</a:t>
            </a:r>
          </a:p>
          <a:p>
            <a:r>
              <a:rPr lang="en-GB" dirty="0" smtClean="0"/>
              <a:t>At its most fundamental level, Machine Learning is a subset of Artificial Intelligence that enables computers to </a:t>
            </a:r>
            <a:r>
              <a:rPr lang="en-GB" b="1" dirty="0" smtClean="0"/>
              <a:t>learn from data without being explicitly programmed for every specific scenario.</a:t>
            </a:r>
            <a:r>
              <a:rPr lang="en-GB" dirty="0" smtClean="0"/>
              <a:t> </a:t>
            </a:r>
          </a:p>
          <a:p>
            <a:r>
              <a:rPr lang="en-GB" b="1" dirty="0" smtClean="0"/>
              <a:t>Pattern Recognition:</a:t>
            </a:r>
            <a:r>
              <a:rPr lang="en-GB" dirty="0" smtClean="0"/>
              <a:t> It excels at identifying complex, non-linear relationships in data that are too subtle or voluminous for human operators to notice. </a:t>
            </a:r>
          </a:p>
          <a:p>
            <a:r>
              <a:rPr lang="en-GB" b="1" dirty="0" smtClean="0"/>
              <a:t>Predictive Capability:</a:t>
            </a:r>
            <a:r>
              <a:rPr lang="en-GB" dirty="0" smtClean="0"/>
              <a:t> It moves beyond describing </a:t>
            </a:r>
            <a:r>
              <a:rPr lang="en-GB" i="1" dirty="0" smtClean="0"/>
              <a:t>what happened</a:t>
            </a:r>
            <a:r>
              <a:rPr lang="en-GB" dirty="0" smtClean="0"/>
              <a:t> to predicting </a:t>
            </a:r>
            <a:r>
              <a:rPr lang="en-GB" i="1" dirty="0" smtClean="0"/>
              <a:t>what will happen</a:t>
            </a:r>
            <a:r>
              <a:rPr lang="en-GB" dirty="0" smtClean="0"/>
              <a:t> (or what is happening in real-time) based on historical trends.</a:t>
            </a:r>
          </a:p>
          <a:p>
            <a:r>
              <a:rPr lang="en-GB" b="1" dirty="0" smtClean="0"/>
              <a:t>Adaptability:</a:t>
            </a:r>
            <a:r>
              <a:rPr lang="en-GB" dirty="0" smtClean="0"/>
              <a:t> ML models can be "retrained" or updated as new data arrives, allowing the system to improve over time as it encounters more diverse scenarios. </a:t>
            </a:r>
          </a:p>
          <a:p>
            <a:r>
              <a:rPr lang="en-GB" b="1" dirty="0" smtClean="0"/>
              <a:t>2. Specific Role in Your Power System Project</a:t>
            </a:r>
          </a:p>
          <a:p>
            <a:r>
              <a:rPr lang="en-GB" dirty="0" smtClean="0"/>
              <a:t>For your presentation, explain that Machine Learning is the </a:t>
            </a:r>
            <a:r>
              <a:rPr lang="en-GB" b="1" dirty="0" smtClean="0"/>
              <a:t>"brain" of your fault detection system.</a:t>
            </a:r>
            <a:r>
              <a:rPr lang="en-GB" dirty="0" smtClean="0"/>
              <a:t> You can break down its role into these three critical functions:</a:t>
            </a:r>
          </a:p>
          <a:p>
            <a:r>
              <a:rPr lang="en-GB" b="1" dirty="0" smtClean="0"/>
              <a:t>Automated Feature Extraction &amp; Detection:</a:t>
            </a:r>
            <a:endParaRPr lang="en-GB" dirty="0" smtClean="0"/>
          </a:p>
          <a:p>
            <a:r>
              <a:rPr lang="en-GB" dirty="0" smtClean="0"/>
              <a:t>Traditional power systems rely on fixed thresholds (e.g., if current &gt; 500A, trip the breaker). ML, however, analyzes the </a:t>
            </a:r>
            <a:r>
              <a:rPr lang="en-GB" i="1" dirty="0" smtClean="0"/>
              <a:t>waveform patterns</a:t>
            </a:r>
            <a:r>
              <a:rPr lang="en-GB" dirty="0" smtClean="0"/>
              <a:t> of voltage and current simultaneously. It can distinguish between a harmless transient (like starting a large motor) and a dangerous fault, significantly reducing "false trips" and increasing grid reliability.</a:t>
            </a:r>
          </a:p>
          <a:p>
            <a:r>
              <a:rPr lang="en-GB" b="1" dirty="0" smtClean="0"/>
              <a:t>Complex Classification:</a:t>
            </a:r>
            <a:endParaRPr lang="en-GB" dirty="0" smtClean="0"/>
          </a:p>
          <a:p>
            <a:r>
              <a:rPr lang="en-GB" dirty="0" smtClean="0"/>
              <a:t>There are many types of faults (Line-to-Ground, Line-to-Line, Three-Phase, etc.). An ML classifier can accurately categorize these faults instantly. This is crucial because different fault types require different corrective actions from the utility company. </a:t>
            </a:r>
          </a:p>
          <a:p>
            <a:r>
              <a:rPr lang="en-GB" b="1" dirty="0" smtClean="0"/>
              <a:t>Handling Uncertainty &amp; "Few-Shot" Learning (MAML):</a:t>
            </a:r>
            <a:endParaRPr lang="en-GB" dirty="0" smtClean="0"/>
          </a:p>
          <a:p>
            <a:r>
              <a:rPr lang="en-GB" dirty="0" smtClean="0"/>
              <a:t>Because you are using Meta-Learning (MAML), the role of ML in your project is further elevated: it isn't just learning one task; it is </a:t>
            </a:r>
            <a:r>
              <a:rPr lang="en-GB" b="1" dirty="0" smtClean="0"/>
              <a:t>learning how to learn new tasks.</a:t>
            </a:r>
            <a:r>
              <a:rPr lang="en-GB" dirty="0" smtClean="0"/>
              <a:t> This is vital because grid faults are relatively rare; the ML helps the system adapt to new or unknown fault conditions even when training data for those specific events is limited. </a:t>
            </a:r>
          </a:p>
          <a:p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xmlns="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/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Cloud </a:t>
            </a:r>
            <a:r>
              <a:rPr lang="en-US" sz="1800" dirty="0"/>
              <a:t>– It provides the infrastructure to build, deploy, and scale the Nutrition Agent efficiently. IBM Cloud enables a </a:t>
            </a:r>
            <a:r>
              <a:rPr lang="en-US" sz="1800" b="1" dirty="0"/>
              <a:t>reliable, secure, and scalable environment</a:t>
            </a:r>
            <a:r>
              <a:rPr lang="en-US" sz="1800" dirty="0"/>
              <a:t> for deploying the Nutrition Agent.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smtClean="0"/>
              <a:t>Machine Learning </a:t>
            </a:r>
            <a:r>
              <a:rPr lang="en-US" sz="1800" b="1" dirty="0" smtClean="0"/>
              <a:t>– </a:t>
            </a:r>
            <a:r>
              <a:rPr lang="en-GB" sz="1800" dirty="0" smtClean="0"/>
              <a:t>Machine Learning is the </a:t>
            </a:r>
            <a:r>
              <a:rPr lang="en-GB" sz="1800" b="1" dirty="0" smtClean="0"/>
              <a:t>"brain" of </a:t>
            </a:r>
            <a:r>
              <a:rPr lang="en-GB" sz="1800" b="1" dirty="0" smtClean="0"/>
              <a:t>fault </a:t>
            </a:r>
            <a:r>
              <a:rPr lang="en-GB" sz="1800" b="1" dirty="0" smtClean="0"/>
              <a:t>detection </a:t>
            </a:r>
            <a:r>
              <a:rPr lang="en-GB" sz="1800" b="1" dirty="0" smtClean="0"/>
              <a:t>system </a:t>
            </a:r>
            <a:r>
              <a:rPr lang="en-GB" sz="1800" dirty="0" smtClean="0"/>
              <a:t>for Automated Feature Extraction &amp; Detection, Complex Classification and Handling Uncertainty &amp; "Few-Shot" Learning (MAML)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Watsonx.ai - </a:t>
            </a:r>
            <a:r>
              <a:rPr lang="en-US" sz="1800" dirty="0"/>
              <a:t>For model deployment, embeddings, and AI </a:t>
            </a:r>
            <a:r>
              <a:rPr lang="en-US" sz="1800" dirty="0" smtClean="0"/>
              <a:t>governance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764405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xmlns="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The proposed </a:t>
            </a:r>
            <a:r>
              <a:rPr lang="en-IN" sz="1800" dirty="0" smtClean="0"/>
              <a:t>Solution for  </a:t>
            </a:r>
            <a:r>
              <a:rPr lang="en-GB" sz="1800" dirty="0" smtClean="0"/>
              <a:t>Power </a:t>
            </a:r>
            <a:r>
              <a:rPr lang="en-GB" sz="1800" dirty="0" smtClean="0"/>
              <a:t>System Fault Detection and </a:t>
            </a:r>
            <a:r>
              <a:rPr lang="en-GB" sz="1800" dirty="0" smtClean="0"/>
              <a:t>Classification using </a:t>
            </a:r>
            <a:r>
              <a:rPr lang="en-GB" sz="1800" b="1" dirty="0" smtClean="0"/>
              <a:t>Machine Learning </a:t>
            </a:r>
            <a:r>
              <a:rPr lang="en-GB" sz="1800" dirty="0" smtClean="0"/>
              <a:t>contains</a:t>
            </a:r>
            <a:r>
              <a:rPr lang="en-IN" sz="1800" dirty="0" smtClean="0"/>
              <a:t>:</a:t>
            </a:r>
            <a:endParaRPr lang="en-IN" sz="1800" dirty="0"/>
          </a:p>
          <a:p>
            <a:endParaRPr lang="en-IN" sz="1800" dirty="0"/>
          </a:p>
          <a:p>
            <a:r>
              <a:rPr lang="en-GB" sz="1800" b="1" dirty="0" smtClean="0"/>
              <a:t>Meta-Learning for Rare Events:</a:t>
            </a:r>
            <a:r>
              <a:rPr lang="en-GB" sz="1800" dirty="0" smtClean="0"/>
              <a:t> The inclusion of </a:t>
            </a:r>
            <a:r>
              <a:rPr lang="en-GB" sz="1800" b="1" dirty="0" smtClean="0"/>
              <a:t>MAML (Model-Agnostic Meta-Learning)</a:t>
            </a:r>
            <a:r>
              <a:rPr lang="en-GB" sz="1800" dirty="0" smtClean="0"/>
              <a:t> is a high-level technical innovation. Most standard models struggle when there is little data for specific types of rare, catastrophic faults. By using "few-shot" learning techniques, your project demonstrates a novel ability to adapt to new or unknown fault scenarios with minimal training data. </a:t>
            </a:r>
          </a:p>
          <a:p>
            <a:r>
              <a:rPr lang="en-GB" sz="1800" b="1" dirty="0" smtClean="0"/>
              <a:t>End-to-End Automation via </a:t>
            </a:r>
            <a:r>
              <a:rPr lang="en-GB" sz="1800" b="1" dirty="0" err="1" smtClean="0"/>
              <a:t>AutoAI</a:t>
            </a:r>
            <a:r>
              <a:rPr lang="en-GB" sz="1800" b="1" dirty="0" smtClean="0"/>
              <a:t>:</a:t>
            </a:r>
            <a:r>
              <a:rPr lang="en-GB" sz="1800" dirty="0" smtClean="0"/>
              <a:t> Using IBM </a:t>
            </a:r>
            <a:r>
              <a:rPr lang="en-GB" sz="1800" dirty="0" err="1" smtClean="0"/>
              <a:t>watsonx</a:t>
            </a:r>
            <a:r>
              <a:rPr lang="en-GB" sz="1800" dirty="0" smtClean="0"/>
              <a:t> </a:t>
            </a:r>
            <a:r>
              <a:rPr lang="en-GB" sz="1800" dirty="0" err="1" smtClean="0"/>
              <a:t>AutoAI</a:t>
            </a:r>
            <a:r>
              <a:rPr lang="en-GB" sz="1800" dirty="0" smtClean="0"/>
              <a:t> to automate the pipeline generation is novel because it minimizes human bias in algorithm selection and feature engineering, ensuring the final model is statistically optimized rather than just "guessed</a:t>
            </a:r>
            <a:r>
              <a:rPr lang="en-GB" sz="1800" dirty="0" smtClean="0"/>
              <a:t>.“</a:t>
            </a:r>
          </a:p>
          <a:p>
            <a:r>
              <a:rPr lang="en-GB" sz="1800" b="1" dirty="0" smtClean="0"/>
              <a:t>Custom Feature Engineering for Electrical Signatures:</a:t>
            </a:r>
            <a:r>
              <a:rPr lang="en-GB" sz="1800" dirty="0" smtClean="0"/>
              <a:t> Your decision to filter out "noisy" data (Weather, Maintenance logs) while preserving key identifiers like "Fault ID" shows a deep understanding of the </a:t>
            </a:r>
            <a:r>
              <a:rPr lang="en-GB" sz="1800" i="1" dirty="0" smtClean="0"/>
              <a:t>physics</a:t>
            </a:r>
            <a:r>
              <a:rPr lang="en-GB" sz="1800" dirty="0" smtClean="0"/>
              <a:t> behind power systems. You are training the model to recognize the specific "signature" of a fault, not just learning from a random dataset.</a:t>
            </a:r>
          </a:p>
          <a:p>
            <a:r>
              <a:rPr lang="en-GB" sz="1800" b="1" dirty="0" smtClean="0"/>
              <a:t>Proactive Resilience:</a:t>
            </a:r>
            <a:r>
              <a:rPr lang="en-GB" sz="1800" dirty="0" smtClean="0"/>
              <a:t> Your project moves the power grid toward a </a:t>
            </a:r>
            <a:r>
              <a:rPr lang="en-GB" sz="1800" b="1" dirty="0" smtClean="0"/>
              <a:t>"Self-Healing" capability.</a:t>
            </a:r>
            <a:r>
              <a:rPr lang="en-GB" sz="1800" dirty="0" smtClean="0"/>
              <a:t> You aren't just identifying a fault after it causes an outage; you are creating the foundation for a system that can distinguish between temporary transients (like motor </a:t>
            </a:r>
            <a:r>
              <a:rPr lang="en-GB" sz="1800" dirty="0" err="1" smtClean="0"/>
              <a:t>startup</a:t>
            </a:r>
            <a:r>
              <a:rPr lang="en-GB" sz="1800" dirty="0" smtClean="0"/>
              <a:t>) and real threats, thus preventing unnecessary, costly power trips.</a:t>
            </a:r>
          </a:p>
          <a:p>
            <a:endParaRPr lang="en-GB" sz="1800" dirty="0" smtClean="0"/>
          </a:p>
        </p:txBody>
      </p:sp>
    </p:spTree>
    <p:extLst>
      <p:ext uri="{BB962C8B-B14F-4D97-AF65-F5344CB8AC3E}">
        <p14:creationId xmlns:p14="http://schemas.microsoft.com/office/powerpoint/2010/main" xmlns="" val="917964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xmlns="" id="{15507A2F-9304-7475-5C74-2BAA93879CFE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Please create public 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(Enable Add README  button while creating repository) with format –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test and Paste the working 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</a:t>
            </a:r>
            <a:r>
              <a:rPr lang="en-US" sz="185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</a:t>
            </a:r>
            <a:r>
              <a:rPr lang="en-US" sz="185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</a:t>
            </a:r>
            <a:r>
              <a:rPr lang="en-US" sz="185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://</a:t>
            </a:r>
            <a:r>
              <a:rPr lang="en-US" sz="185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github.com/Naveen-AR25/IBM-AI-Internship-project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sure you have Uploaded following three files into your </a:t>
            </a:r>
            <a:r>
              <a:rPr lang="en-US" sz="1850" b="1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app.json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file , 2) yourproblemstatement.pdf file  3) your projectpresntation.pptx file 4)any other files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15484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xmlns="" id="{EAFA16CB-0A72-5AC5-69A0-ABF4A752B43F}"/>
              </a:ext>
            </a:extLst>
          </p:cNvPr>
          <p:cNvSpPr/>
          <p:nvPr/>
        </p:nvSpPr>
        <p:spPr>
          <a:xfrm>
            <a:off x="475488" y="987553"/>
            <a:ext cx="9957816" cy="451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Font typeface="Courier New" pitchFamily="49" charset="0"/>
              <a:buChar char="o"/>
            </a:pPr>
            <a:r>
              <a:rPr lang="en-GB" sz="2000" b="1" dirty="0" smtClean="0"/>
              <a:t> Integration </a:t>
            </a:r>
            <a:r>
              <a:rPr lang="en-GB" sz="2000" b="1" dirty="0" smtClean="0"/>
              <a:t>with </a:t>
            </a:r>
            <a:r>
              <a:rPr lang="en-GB" sz="2000" b="1" dirty="0" err="1" smtClean="0"/>
              <a:t>IoT</a:t>
            </a:r>
            <a:r>
              <a:rPr lang="en-GB" sz="2000" b="1" dirty="0" smtClean="0"/>
              <a:t>/Edge Computing:</a:t>
            </a:r>
            <a:r>
              <a:rPr lang="en-GB" sz="2000" dirty="0" smtClean="0"/>
              <a:t> Instead of running the model in the cloud, the future goal is to deploy the model on </a:t>
            </a:r>
            <a:r>
              <a:rPr lang="en-GB" sz="2000" b="1" dirty="0" smtClean="0"/>
              <a:t>Edge Devices</a:t>
            </a:r>
            <a:r>
              <a:rPr lang="en-GB" sz="2000" dirty="0" smtClean="0"/>
              <a:t> (like smart relays or intelligent electronic devices—IEDs) at the substation level. This would allow for </a:t>
            </a:r>
            <a:r>
              <a:rPr lang="en-GB" sz="2000" b="1" dirty="0" smtClean="0"/>
              <a:t>millisecond-latency fault classification</a:t>
            </a:r>
            <a:r>
              <a:rPr lang="en-GB" sz="2000" dirty="0" smtClean="0"/>
              <a:t> right at the source, eliminating reliance on network connectivity</a:t>
            </a:r>
            <a:r>
              <a:rPr lang="en-GB" sz="2000" dirty="0" smtClean="0"/>
              <a:t>.</a:t>
            </a:r>
          </a:p>
          <a:p>
            <a:pPr>
              <a:buFont typeface="Courier New" pitchFamily="49" charset="0"/>
              <a:buChar char="o"/>
            </a:pPr>
            <a:endParaRPr lang="en-GB" sz="2000" dirty="0" smtClean="0"/>
          </a:p>
          <a:p>
            <a:pPr>
              <a:buFont typeface="Courier New" pitchFamily="49" charset="0"/>
              <a:buChar char="o"/>
            </a:pPr>
            <a:r>
              <a:rPr lang="en-GB" sz="2000" b="1" dirty="0" smtClean="0"/>
              <a:t> Real-Time </a:t>
            </a:r>
            <a:r>
              <a:rPr lang="en-GB" sz="2000" b="1" dirty="0" smtClean="0"/>
              <a:t>Data Streaming (Kafka/MQTT Integration):</a:t>
            </a:r>
            <a:r>
              <a:rPr lang="en-GB" sz="2000" dirty="0" smtClean="0"/>
              <a:t> Currently, the model processes datasets. The next step is to integrate with real-time streaming protocols like Apache Kafka or MQTT. This will allow the system to ingest live, continuous waveform data from grid sensors, providing </a:t>
            </a:r>
            <a:r>
              <a:rPr lang="en-GB" sz="2000" b="1" dirty="0" smtClean="0"/>
              <a:t>instantaneous, 24/7 fault monitoring</a:t>
            </a:r>
            <a:r>
              <a:rPr lang="en-GB" sz="2000" b="1" dirty="0" smtClean="0"/>
              <a:t>.</a:t>
            </a:r>
          </a:p>
          <a:p>
            <a:pPr>
              <a:buFont typeface="Courier New" pitchFamily="49" charset="0"/>
              <a:buChar char="o"/>
            </a:pPr>
            <a:endParaRPr lang="en-GB" sz="2000" dirty="0" smtClean="0"/>
          </a:p>
          <a:p>
            <a:pPr>
              <a:buFont typeface="Courier New" pitchFamily="49" charset="0"/>
              <a:buChar char="o"/>
            </a:pPr>
            <a:r>
              <a:rPr lang="en-GB" sz="2000" b="1" dirty="0" smtClean="0"/>
              <a:t> Expansion </a:t>
            </a:r>
            <a:r>
              <a:rPr lang="en-GB" sz="2000" b="1" dirty="0" smtClean="0"/>
              <a:t>to Predictive Maintenance (Prognostics):</a:t>
            </a:r>
            <a:r>
              <a:rPr lang="en-GB" sz="2000" dirty="0" smtClean="0"/>
              <a:t> Beyond just classifying current faults, the model could be trained to identify </a:t>
            </a:r>
            <a:r>
              <a:rPr lang="en-GB" sz="2000" b="1" dirty="0" smtClean="0"/>
              <a:t>pre-fault signatures.</a:t>
            </a:r>
            <a:r>
              <a:rPr lang="en-GB" sz="2000" dirty="0" smtClean="0"/>
              <a:t> By analyzing subtle changes in harmonics or thermal trends, the system could predict equipment degradation (e.g., transformer insulation failure) </a:t>
            </a:r>
            <a:r>
              <a:rPr lang="en-GB" sz="2000" i="1" dirty="0" smtClean="0"/>
              <a:t>before</a:t>
            </a:r>
            <a:r>
              <a:rPr lang="en-GB" sz="2000" dirty="0" smtClean="0"/>
              <a:t> the fault even occurs, transitioning from </a:t>
            </a:r>
            <a:r>
              <a:rPr lang="en-GB" sz="2000" i="1" dirty="0" smtClean="0"/>
              <a:t>fault classification</a:t>
            </a:r>
            <a:r>
              <a:rPr lang="en-GB" sz="2000" dirty="0" smtClean="0"/>
              <a:t> to </a:t>
            </a:r>
            <a:r>
              <a:rPr lang="en-GB" sz="2000" i="1" dirty="0" smtClean="0"/>
              <a:t>preventative maintenance</a:t>
            </a:r>
            <a:r>
              <a:rPr lang="en-GB" sz="2000" dirty="0" smtClean="0"/>
              <a:t>.</a:t>
            </a:r>
            <a:endParaRPr lang="en-GB" sz="2000" dirty="0"/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36706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2181</TotalTime>
  <Words>1340</Words>
  <Application>Microsoft Office PowerPoint</Application>
  <PresentationFormat>Custom</PresentationFormat>
  <Paragraphs>122</Paragraphs>
  <Slides>15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IBM University Engagement Project Submission 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LENOVO</cp:lastModifiedBy>
  <cp:revision>66</cp:revision>
  <dcterms:created xsi:type="dcterms:W3CDTF">2025-07-08T05:06:56Z</dcterms:created>
  <dcterms:modified xsi:type="dcterms:W3CDTF">2026-06-06T13:22:36Z</dcterms:modified>
</cp:coreProperties>
</file>